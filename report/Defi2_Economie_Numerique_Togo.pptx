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population</c:v>
                </c:pt>
              </c:strCache>
            </c:strRef>
          </c:tx>
          <c:spPr>
            <a:solidFill>
              <a:srgbClr val="17A2B8"/>
            </a:solidFill>
            <a:ln w="38100" cap="flat">
              <a:solidFill>
                <a:srgbClr val="17A2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2B8"/>
              </a:solidFill>
              <a:ln w="9525" cap="flat">
                <a:solidFill>
                  <a:srgbClr val="17A2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1996</c:v>
                  </c:pt>
                  <c:pt idx="1">
                    <c:v>1999</c:v>
                  </c:pt>
                  <c:pt idx="2">
                    <c:v>2002</c:v>
                  </c:pt>
                  <c:pt idx="3">
                    <c:v>2005</c:v>
                  </c:pt>
                  <c:pt idx="4">
                    <c:v>2008</c:v>
                  </c:pt>
                  <c:pt idx="5">
                    <c:v>2011</c:v>
                  </c:pt>
                  <c:pt idx="6">
                    <c:v>2013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  <c:pt idx="14">
                    <c:v>2022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0.01</c:v>
                </c:pt>
                <c:pt idx="1">
                  <c:v>0.59</c:v>
                </c:pt>
                <c:pt idx="2">
                  <c:v>1</c:v>
                </c:pt>
                <c:pt idx="3">
                  <c:v>1.8</c:v>
                </c:pt>
                <c:pt idx="4">
                  <c:v>2.4</c:v>
                </c:pt>
                <c:pt idx="5">
                  <c:v>3.5</c:v>
                </c:pt>
                <c:pt idx="6">
                  <c:v>4.5</c:v>
                </c:pt>
                <c:pt idx="7">
                  <c:v>7.12</c:v>
                </c:pt>
                <c:pt idx="8">
                  <c:v>11.31</c:v>
                </c:pt>
                <c:pt idx="9">
                  <c:v>12.36</c:v>
                </c:pt>
                <c:pt idx="10">
                  <c:v>15.5</c:v>
                </c:pt>
                <c:pt idx="11">
                  <c:v>20.73</c:v>
                </c:pt>
                <c:pt idx="12">
                  <c:v>29.02</c:v>
                </c:pt>
                <c:pt idx="13">
                  <c:v>32.51</c:v>
                </c:pt>
                <c:pt idx="14">
                  <c:v>37.62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de la population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Atlantique Telecom (Moov)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45.43</c:v>
                </c:pt>
                <c:pt idx="1">
                  <c:v>45.52</c:v>
                </c:pt>
                <c:pt idx="2">
                  <c:v>45.97</c:v>
                </c:pt>
                <c:pt idx="3">
                  <c:v>46.02</c:v>
                </c:pt>
                <c:pt idx="4">
                  <c:v>48.48</c:v>
                </c:pt>
                <c:pt idx="5">
                  <c:v>55.41</c:v>
                </c:pt>
                <c:pt idx="6">
                  <c:v>48.56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Togo Cellulaire (Togocom)</c:v>
                </c:pt>
              </c:strCache>
            </c:strRef>
          </c:tx>
          <c:spPr>
            <a:solidFill>
              <a:srgbClr val="F4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54.57</c:v>
                </c:pt>
                <c:pt idx="1">
                  <c:v>54.48</c:v>
                </c:pt>
                <c:pt idx="2">
                  <c:v>54.03</c:v>
                </c:pt>
                <c:pt idx="3">
                  <c:v>53.98</c:v>
                </c:pt>
                <c:pt idx="4">
                  <c:v>51.52</c:v>
                </c:pt>
                <c:pt idx="5">
                  <c:v>44.59</c:v>
                </c:pt>
                <c:pt idx="6">
                  <c:v>51.44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6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(Md FCFA)</c:v>
                </c:pt>
              </c:strCache>
            </c:strRef>
          </c:tx>
          <c:spPr>
            <a:solidFill>
              <a:srgbClr val="12203C"/>
            </a:solidFill>
            <a:ln w="31750" cap="flat">
              <a:solidFill>
                <a:srgbClr val="1220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2203C"/>
              </a:solidFill>
              <a:ln w="9525" cap="flat">
                <a:solidFill>
                  <a:srgbClr val="1220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178.7</c:v>
                </c:pt>
                <c:pt idx="1">
                  <c:v>188.1</c:v>
                </c:pt>
                <c:pt idx="2">
                  <c:v>199.6</c:v>
                </c:pt>
                <c:pt idx="3">
                  <c:v>187.6</c:v>
                </c:pt>
                <c:pt idx="4">
                  <c:v>178.5</c:v>
                </c:pt>
                <c:pt idx="5">
                  <c:v>177.2</c:v>
                </c:pt>
                <c:pt idx="6">
                  <c:v>184.9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Télédensité mobile (%)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  <c:pt idx="4">
                    <c:v>2017</c:v>
                  </c:pt>
                  <c:pt idx="5">
                    <c:v>2018</c:v>
                  </c:pt>
                  <c:pt idx="6">
                    <c:v>2019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55.87</c:v>
                </c:pt>
                <c:pt idx="1">
                  <c:v>61.96</c:v>
                </c:pt>
                <c:pt idx="2">
                  <c:v>66.78</c:v>
                </c:pt>
                <c:pt idx="3">
                  <c:v>74.92</c:v>
                </c:pt>
                <c:pt idx="4">
                  <c:v>82.98</c:v>
                </c:pt>
                <c:pt idx="5">
                  <c:v>82.59</c:v>
                </c:pt>
                <c:pt idx="6">
                  <c:v>81.91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 Mobile Money</c:v>
                </c:pt>
              </c:strCache>
            </c:strRef>
          </c:tx>
          <c:spPr>
            <a:solidFill>
              <a:srgbClr val="F4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Plateaux</c:v>
                  </c:pt>
                  <c:pt idx="2">
                    <c:v>Kara</c:v>
                  </c:pt>
                  <c:pt idx="3">
                    <c:v>Savanes</c:v>
                  </c:pt>
                  <c:pt idx="4">
                    <c:v>Centrale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8986</c:v>
                </c:pt>
                <c:pt idx="1">
                  <c:v>3079</c:v>
                </c:pt>
                <c:pt idx="2">
                  <c:v>2951</c:v>
                </c:pt>
                <c:pt idx="3">
                  <c:v>2679</c:v>
                </c:pt>
                <c:pt idx="4">
                  <c:v>2093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Établissements financiers (x20 pour lisibilité)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Plateaux</c:v>
                  </c:pt>
                  <c:pt idx="2">
                    <c:v>Kara</c:v>
                  </c:pt>
                  <c:pt idx="3">
                    <c:v>Savanes</c:v>
                  </c:pt>
                  <c:pt idx="4">
                    <c:v>Centrale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7280</c:v>
                </c:pt>
                <c:pt idx="1">
                  <c:v>2020</c:v>
                </c:pt>
                <c:pt idx="2">
                  <c:v>1600</c:v>
                </c:pt>
                <c:pt idx="3">
                  <c:v>1100</c:v>
                </c:pt>
                <c:pt idx="4">
                  <c:v>1240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3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3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3E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0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03C"/>
                </a:solidFill>
                <a:latin typeface="Arial"/>
              </a:rPr>
              <a:t>Habitants / agent Mobile Money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Hab. / agent Mobile Money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Kara</c:v>
                  </c:pt>
                  <c:pt idx="2">
                    <c:v>Centrale</c:v>
                  </c:pt>
                  <c:pt idx="3">
                    <c:v>Plateaux</c:v>
                  </c:pt>
                  <c:pt idx="4">
                    <c:v>Savanes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334</c:v>
                </c:pt>
                <c:pt idx="2">
                  <c:v>380</c:v>
                </c:pt>
                <c:pt idx="3">
                  <c:v>531</c:v>
                </c:pt>
                <c:pt idx="4">
                  <c:v>427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0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0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03C"/>
                </a:solidFill>
                <a:latin typeface="Arial"/>
              </a:rPr>
              <a:t>Habitants / établissement financier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Hab. / établissement financier</c:v>
                </c:pt>
              </c:strCache>
            </c:strRef>
          </c:tx>
          <c:spPr>
            <a:solidFill>
              <a:srgbClr val="F4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Maritime</c:v>
                  </c:pt>
                  <c:pt idx="1">
                    <c:v>Kara</c:v>
                  </c:pt>
                  <c:pt idx="2">
                    <c:v>Centrale</c:v>
                  </c:pt>
                  <c:pt idx="3">
                    <c:v>Plateaux</c:v>
                  </c:pt>
                  <c:pt idx="4">
                    <c:v>Savanes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3699</c:v>
                </c:pt>
                <c:pt idx="1">
                  <c:v>12319</c:v>
                </c:pt>
                <c:pt idx="2">
                  <c:v>12831</c:v>
                </c:pt>
                <c:pt idx="3">
                  <c:v>16197</c:v>
                </c:pt>
                <c:pt idx="4">
                  <c:v>20791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0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C30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ÉCONOMIE NUMÉRIQUE · TOGO AI LAB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du numérique et inclusion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financière par le mobile money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l'accès à Internet et aux services financiers, et recommandations pour accélérer l'inclusion numérique au Togo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40 %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Internet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4434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19 788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mobile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recensés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434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2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5166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financiers référencés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money, porte d'entrée financière du Togo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mobile s'est imposé au Togo, mais l'accès à Internet et aux banques reste très inégal entre les territoires.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en retard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37,6 % de la population utilisait Internet en 2022 — une progression rapide mais qui part de très bas.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Banques concentrées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établissements financiers classiques (banques, micro-finance, assurances) restent concentrés dans les zones urbaines.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1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194560"/>
            <a:ext cx="640080" cy="64008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0175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money dominant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2044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Près de 20 000 agents mobile money couvrent un territoire bien plus large que le réseau bancaire traditionnel.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croissance rapide, mais partie de très bas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population togolaise utilisant Internet, 1996–2022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463040"/>
            <a:ext cx="3154680" cy="2194560"/>
          </a:xfrm>
          <a:prstGeom prst="roundRect">
            <a:avLst>
              <a:gd name="adj" fmla="val 3333"/>
            </a:avLst>
          </a:prstGeom>
          <a:solidFill>
            <a:srgbClr val="12203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3252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 pts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33172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gagnés entre 2019 et 2022 — la période la plus rapide d'accélération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03920" y="384048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32520" y="406908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2013 : quasi-stagnation sous les 5 %. La croissance ne décolle vraiment qu'avec la 3G/4G et la baisse du coût des smartphones.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duopolistique, en léger rééquilibrage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de marché des opérateurs en % d'abonnés, 2013–2019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63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Chiffre d'affaires du secteur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7772400" y="1828800"/>
          <a:ext cx="3886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772400" y="39776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Télédensité mobile GSM</a:t>
            </a:r>
            <a:endParaRPr lang="en-US" sz="14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7772400" y="4343400"/>
          <a:ext cx="38862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mobile money couvre un territoire bien plus large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points d'accès géolocalisés, par région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Savanes : la région la moins bien desservie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par point de service financier, par région (2022)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méthodologiques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137160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08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données de couverture réseau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ouverte 2G/3G/4G par zone n'est disponible pour le Togo — le ciblage géographique des investissements réseau reste approximatif.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71800"/>
            <a:ext cx="109728" cy="137160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108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au niveau canton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520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recensement 2022 est publié au niveau canton/localité ; l'agrégation à la préfecture a été reconstituée et peut contenir de légers écarts.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F4A1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Statuts d'usage déclaratifs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120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d'activité des établissements financiers (« Utilisé », « Fermé », etc.) est déclaratif et daté de janvier 2025 ; une partie reste « Inconnu ».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recommandations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Prioriser Savanes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8191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habitants/établissement le plus élevé : l'impact marginal d'un nouveau point de service y est le plus fort.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188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Miser sur le mobile money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58191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préfectures sans établissement financier, étendre l'offre (épargne, micro-crédit) via les agents existants plutôt que d'attendre des agences physiques.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Publier les données de couverture réseau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7355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donnée ouverte 2G/3G/4G par zone permettrait un ciblage fin des investissements en infrastructure.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Encourager le multi-opérateur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27355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dépendance des usagers à un seul opérateur mobile money renforce la résilience du service.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72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Suivre le ratio agents MM / établissements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65192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indicateur simple et déjà disponible pour mesurer chaque année la progression de l'inclusion financière.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Usage d'Internet — Part de la population, 1996–2022 (opendata.gouv.tg)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Abonnés Internet — par type d'accès, technologie et opérateur, 2013–2019 (opendata.gouv.tg)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Marché de la téléphonie — abonnés, télédensité, CA, investissements, 2013–2019 (opendata.gouv.tg)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Établissements financiers géolocalisés — banques, micro-finance, assurances, mutuelles (opendata.gouv.tg)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Agents mobile money géolocalisés (opendata.gouv.tg)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Population résidente par découpage administratif — RGPH-5, 2022 (opendata.gouv.tg)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468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2 · Économie Numérique · 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2026-09-23T06:40:27Z</dcterms:created>
  <dcterms:modified xsi:type="dcterms:W3CDTF">2026-09-23T06:40:27Z</dcterms:modified>
</cp:coreProperties>
</file>